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7" r:id="rId12"/>
    <p:sldId id="272" r:id="rId13"/>
    <p:sldId id="268" r:id="rId14"/>
    <p:sldId id="269" r:id="rId15"/>
    <p:sldId id="270" r:id="rId16"/>
    <p:sldId id="271" r:id="rId17"/>
    <p:sldId id="273" r:id="rId18"/>
    <p:sldId id="274" r:id="rId19"/>
    <p:sldId id="275" r:id="rId20"/>
    <p:sldId id="26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3208096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1738965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1812255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DF39D7-8D52-4965-B60F-FADC8DA4A8BE}"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838772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DF39D7-8D52-4965-B60F-FADC8DA4A8BE}" type="datetimeFigureOut">
              <a:rPr lang="en-US" smtClean="0"/>
              <a:t>7/28/2025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91190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66618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3283922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1409896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DF39D7-8D52-4965-B60F-FADC8DA4A8BE}"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3530055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DF39D7-8D52-4965-B60F-FADC8DA4A8BE}"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1394840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1269851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23280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1932531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34588174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2150896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4113862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DF39D7-8D52-4965-B60F-FADC8DA4A8BE}"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B79198-8C9B-4EB3-B983-635DB0633FC6}" type="slidenum">
              <a:rPr lang="en-US" smtClean="0"/>
              <a:t>‹#›</a:t>
            </a:fld>
            <a:endParaRPr lang="en-US"/>
          </a:p>
        </p:txBody>
      </p:sp>
    </p:spTree>
    <p:extLst>
      <p:ext uri="{BB962C8B-B14F-4D97-AF65-F5344CB8AC3E}">
        <p14:creationId xmlns:p14="http://schemas.microsoft.com/office/powerpoint/2010/main" val="38528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3DF39D7-8D52-4965-B60F-FADC8DA4A8BE}" type="datetimeFigureOut">
              <a:rPr lang="en-US" smtClean="0"/>
              <a:t>7/28/2025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EB79198-8C9B-4EB3-B983-635DB0633FC6}" type="slidenum">
              <a:rPr lang="en-US" smtClean="0"/>
              <a:t>‹#›</a:t>
            </a:fld>
            <a:endParaRPr lang="en-US"/>
          </a:p>
        </p:txBody>
      </p:sp>
    </p:spTree>
    <p:extLst>
      <p:ext uri="{BB962C8B-B14F-4D97-AF65-F5344CB8AC3E}">
        <p14:creationId xmlns:p14="http://schemas.microsoft.com/office/powerpoint/2010/main" val="151736771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www.analyticsvidhya.com/blog/2023/10/a-comprehensive-guide-to-using-chains-in-langchai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5EBDE-EB90-A1A6-8546-F8D7BFDCABA7}"/>
              </a:ext>
            </a:extLst>
          </p:cNvPr>
          <p:cNvSpPr>
            <a:spLocks noGrp="1"/>
          </p:cNvSpPr>
          <p:nvPr>
            <p:ph type="ctrTitle"/>
          </p:nvPr>
        </p:nvSpPr>
        <p:spPr/>
        <p:txBody>
          <a:bodyPr/>
          <a:lstStyle/>
          <a:p>
            <a:r>
              <a:rPr lang="en-US" b="1" u="sng" dirty="0" err="1"/>
              <a:t>LangGraph</a:t>
            </a:r>
            <a:r>
              <a:rPr lang="en-US" b="1" u="sng" dirty="0"/>
              <a:t> Session</a:t>
            </a:r>
            <a:r>
              <a:rPr lang="en-US" dirty="0"/>
              <a:t> </a:t>
            </a:r>
          </a:p>
        </p:txBody>
      </p:sp>
      <p:sp>
        <p:nvSpPr>
          <p:cNvPr id="3" name="Subtitle 2">
            <a:extLst>
              <a:ext uri="{FF2B5EF4-FFF2-40B4-BE49-F238E27FC236}">
                <a16:creationId xmlns:a16="http://schemas.microsoft.com/office/drawing/2014/main" id="{53920506-6DFA-0D66-5BEC-3AA8C9AB18B8}"/>
              </a:ext>
            </a:extLst>
          </p:cNvPr>
          <p:cNvSpPr>
            <a:spLocks noGrp="1"/>
          </p:cNvSpPr>
          <p:nvPr>
            <p:ph type="subTitle" idx="1"/>
          </p:nvPr>
        </p:nvSpPr>
        <p:spPr/>
        <p:txBody>
          <a:bodyPr>
            <a:normAutofit/>
          </a:bodyPr>
          <a:lstStyle/>
          <a:p>
            <a:r>
              <a:rPr lang="en-US" sz="2400" b="1" dirty="0"/>
              <a:t>Part 1</a:t>
            </a:r>
          </a:p>
        </p:txBody>
      </p:sp>
    </p:spTree>
    <p:extLst>
      <p:ext uri="{BB962C8B-B14F-4D97-AF65-F5344CB8AC3E}">
        <p14:creationId xmlns:p14="http://schemas.microsoft.com/office/powerpoint/2010/main" val="86187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0F70-11D1-1D91-6455-14CF452F0F85}"/>
              </a:ext>
            </a:extLst>
          </p:cNvPr>
          <p:cNvSpPr>
            <a:spLocks noGrp="1"/>
          </p:cNvSpPr>
          <p:nvPr>
            <p:ph type="title"/>
          </p:nvPr>
        </p:nvSpPr>
        <p:spPr/>
        <p:txBody>
          <a:bodyPr/>
          <a:lstStyle/>
          <a:p>
            <a:r>
              <a:rPr lang="en-US" dirty="0" err="1"/>
              <a:t>LangChain</a:t>
            </a:r>
            <a:r>
              <a:rPr lang="en-US" dirty="0"/>
              <a:t> -</a:t>
            </a:r>
          </a:p>
        </p:txBody>
      </p:sp>
      <p:sp>
        <p:nvSpPr>
          <p:cNvPr id="3" name="Content Placeholder 2">
            <a:extLst>
              <a:ext uri="{FF2B5EF4-FFF2-40B4-BE49-F238E27FC236}">
                <a16:creationId xmlns:a16="http://schemas.microsoft.com/office/drawing/2014/main" id="{4E401435-05E0-FFA8-10A2-45FA044BA2DE}"/>
              </a:ext>
            </a:extLst>
          </p:cNvPr>
          <p:cNvSpPr>
            <a:spLocks noGrp="1"/>
          </p:cNvSpPr>
          <p:nvPr>
            <p:ph idx="1"/>
          </p:nvPr>
        </p:nvSpPr>
        <p:spPr/>
        <p:txBody>
          <a:bodyPr/>
          <a:lstStyle/>
          <a:p>
            <a:r>
              <a:rPr lang="en-US" b="0" i="0" dirty="0" err="1">
                <a:solidFill>
                  <a:srgbClr val="EEF0FF"/>
                </a:solidFill>
                <a:effectLst/>
                <a:latin typeface="Google Sans"/>
              </a:rPr>
              <a:t>LangChain</a:t>
            </a:r>
            <a:r>
              <a:rPr lang="en-US" b="0" i="0" dirty="0">
                <a:solidFill>
                  <a:srgbClr val="EEF0FF"/>
                </a:solidFill>
                <a:effectLst/>
                <a:latin typeface="Google Sans"/>
              </a:rPr>
              <a:t> is an open-source framework that simplifies the development of applications powered by large language models (LLMs). It provides a structured environment and tools to connect LLMs with various data sources, code execution, and other services, making it easier to build sophisticated AI applications. </a:t>
            </a:r>
            <a:r>
              <a:rPr lang="en-US" b="0" i="0" dirty="0" err="1">
                <a:solidFill>
                  <a:srgbClr val="EEF0FF"/>
                </a:solidFill>
                <a:effectLst/>
                <a:latin typeface="Google Sans"/>
              </a:rPr>
              <a:t>LangChain</a:t>
            </a:r>
            <a:r>
              <a:rPr lang="en-US" b="0" i="0" dirty="0">
                <a:solidFill>
                  <a:srgbClr val="EEF0FF"/>
                </a:solidFill>
                <a:effectLst/>
                <a:latin typeface="Google Sans"/>
              </a:rPr>
              <a:t> is available for both Python and JavaScript.</a:t>
            </a:r>
          </a:p>
          <a:p>
            <a:pPr marL="0" indent="0">
              <a:buNone/>
            </a:pPr>
            <a:endParaRPr lang="en-US" dirty="0"/>
          </a:p>
        </p:txBody>
      </p:sp>
    </p:spTree>
    <p:extLst>
      <p:ext uri="{BB962C8B-B14F-4D97-AF65-F5344CB8AC3E}">
        <p14:creationId xmlns:p14="http://schemas.microsoft.com/office/powerpoint/2010/main" val="3682581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4302F-B6C8-7765-DC82-7D32FE3D8C3E}"/>
              </a:ext>
            </a:extLst>
          </p:cNvPr>
          <p:cNvSpPr>
            <a:spLocks noGrp="1"/>
          </p:cNvSpPr>
          <p:nvPr>
            <p:ph type="title"/>
          </p:nvPr>
        </p:nvSpPr>
        <p:spPr/>
        <p:txBody>
          <a:bodyPr/>
          <a:lstStyle/>
          <a:p>
            <a:r>
              <a:rPr lang="en-US" dirty="0"/>
              <a:t>Key Features of </a:t>
            </a:r>
            <a:r>
              <a:rPr lang="en-US" dirty="0" err="1"/>
              <a:t>LangChain</a:t>
            </a:r>
            <a:r>
              <a:rPr lang="en-US" dirty="0"/>
              <a:t> -</a:t>
            </a:r>
          </a:p>
        </p:txBody>
      </p:sp>
      <p:pic>
        <p:nvPicPr>
          <p:cNvPr id="2050" name="Picture 2" descr="key features of langchain - what is langchain">
            <a:extLst>
              <a:ext uri="{FF2B5EF4-FFF2-40B4-BE49-F238E27FC236}">
                <a16:creationId xmlns:a16="http://schemas.microsoft.com/office/drawing/2014/main" id="{368C7BE5-E523-ED3A-A97D-DE57A44B63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4580" y="2052638"/>
            <a:ext cx="7804616" cy="4195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68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4F1D2-17AE-1BA8-FB9E-9D0BECDE0E40}"/>
              </a:ext>
            </a:extLst>
          </p:cNvPr>
          <p:cNvSpPr>
            <a:spLocks noGrp="1"/>
          </p:cNvSpPr>
          <p:nvPr>
            <p:ph type="title"/>
          </p:nvPr>
        </p:nvSpPr>
        <p:spPr/>
        <p:txBody>
          <a:bodyPr/>
          <a:lstStyle/>
          <a:p>
            <a:r>
              <a:rPr lang="en-US" dirty="0" err="1"/>
              <a:t>LangGraph</a:t>
            </a:r>
            <a:r>
              <a:rPr lang="en-US" dirty="0"/>
              <a:t> -</a:t>
            </a:r>
          </a:p>
        </p:txBody>
      </p:sp>
      <p:sp>
        <p:nvSpPr>
          <p:cNvPr id="3" name="Content Placeholder 2">
            <a:extLst>
              <a:ext uri="{FF2B5EF4-FFF2-40B4-BE49-F238E27FC236}">
                <a16:creationId xmlns:a16="http://schemas.microsoft.com/office/drawing/2014/main" id="{402E98FD-E5AF-AED8-787F-9EE334AFC522}"/>
              </a:ext>
            </a:extLst>
          </p:cNvPr>
          <p:cNvSpPr>
            <a:spLocks noGrp="1"/>
          </p:cNvSpPr>
          <p:nvPr>
            <p:ph idx="1"/>
          </p:nvPr>
        </p:nvSpPr>
        <p:spPr/>
        <p:txBody>
          <a:bodyPr/>
          <a:lstStyle/>
          <a:p>
            <a:r>
              <a:rPr lang="en-US" b="0" i="0" dirty="0" err="1">
                <a:solidFill>
                  <a:srgbClr val="EEF0FF"/>
                </a:solidFill>
                <a:effectLst/>
                <a:latin typeface="Google Sans"/>
              </a:rPr>
              <a:t>LangGraph</a:t>
            </a:r>
            <a:r>
              <a:rPr lang="en-US" b="0" i="0" dirty="0">
                <a:solidFill>
                  <a:srgbClr val="EEF0FF"/>
                </a:solidFill>
                <a:effectLst/>
                <a:latin typeface="Google Sans"/>
              </a:rPr>
              <a:t> is a framework built on top of </a:t>
            </a:r>
            <a:r>
              <a:rPr lang="en-US" b="0" i="0" dirty="0" err="1">
                <a:solidFill>
                  <a:srgbClr val="EEF0FF"/>
                </a:solidFill>
                <a:effectLst/>
                <a:latin typeface="Google Sans"/>
              </a:rPr>
              <a:t>LangChain</a:t>
            </a:r>
            <a:r>
              <a:rPr lang="en-US" b="0" i="0" dirty="0">
                <a:solidFill>
                  <a:srgbClr val="EEF0FF"/>
                </a:solidFill>
                <a:effectLst/>
                <a:latin typeface="Google Sans"/>
              </a:rPr>
              <a:t> designed for creating complex, stateful, and cyclic workflows using large language models (LLMs). It allows developers to build AI agents and multi-agent systems by defining them as graphs, where nodes represent computations (functions or </a:t>
            </a:r>
            <a:r>
              <a:rPr lang="en-US" b="0" i="0" dirty="0" err="1">
                <a:solidFill>
                  <a:srgbClr val="EEF0FF"/>
                </a:solidFill>
                <a:effectLst/>
                <a:latin typeface="Google Sans"/>
              </a:rPr>
              <a:t>Langchain</a:t>
            </a:r>
            <a:r>
              <a:rPr lang="en-US" b="0" i="0" dirty="0">
                <a:solidFill>
                  <a:srgbClr val="EEF0FF"/>
                </a:solidFill>
                <a:effectLst/>
                <a:latin typeface="Google Sans"/>
              </a:rPr>
              <a:t> </a:t>
            </a:r>
            <a:r>
              <a:rPr lang="en-US" b="0" i="0" dirty="0" err="1">
                <a:solidFill>
                  <a:srgbClr val="EEF0FF"/>
                </a:solidFill>
                <a:effectLst/>
                <a:latin typeface="Google Sans"/>
              </a:rPr>
              <a:t>runnables</a:t>
            </a:r>
            <a:r>
              <a:rPr lang="en-US" b="0" i="0" dirty="0">
                <a:solidFill>
                  <a:srgbClr val="EEF0FF"/>
                </a:solidFill>
                <a:effectLst/>
                <a:latin typeface="Google Sans"/>
              </a:rPr>
              <a:t>) and edges define the flow of execution and data. </a:t>
            </a:r>
            <a:r>
              <a:rPr lang="en-US" b="0" i="0" dirty="0" err="1">
                <a:solidFill>
                  <a:srgbClr val="EEF0FF"/>
                </a:solidFill>
                <a:effectLst/>
                <a:latin typeface="Google Sans"/>
              </a:rPr>
              <a:t>LangGraph</a:t>
            </a:r>
            <a:r>
              <a:rPr lang="en-US" b="0" i="0" dirty="0">
                <a:solidFill>
                  <a:srgbClr val="EEF0FF"/>
                </a:solidFill>
                <a:effectLst/>
                <a:latin typeface="Google Sans"/>
              </a:rPr>
              <a:t> is particularly useful for applications requiring fine-grained control over state management, branching, and cycles, as well as for coordinating multiple agents in complex tasks.</a:t>
            </a:r>
          </a:p>
          <a:p>
            <a:r>
              <a:rPr lang="en-US" b="0" i="0" dirty="0" err="1">
                <a:solidFill>
                  <a:srgbClr val="EEF0FF"/>
                </a:solidFill>
                <a:effectLst/>
                <a:latin typeface="Google Sans"/>
              </a:rPr>
              <a:t>LangGraph</a:t>
            </a:r>
            <a:r>
              <a:rPr lang="en-US" b="0" i="0" dirty="0">
                <a:solidFill>
                  <a:srgbClr val="EEF0FF"/>
                </a:solidFill>
                <a:effectLst/>
                <a:latin typeface="Google Sans"/>
              </a:rPr>
              <a:t> overcomes several limitations of </a:t>
            </a:r>
            <a:r>
              <a:rPr lang="en-US" b="0" i="0" dirty="0" err="1">
                <a:solidFill>
                  <a:srgbClr val="EEF0FF"/>
                </a:solidFill>
                <a:effectLst/>
                <a:latin typeface="Google Sans"/>
              </a:rPr>
              <a:t>LangChain</a:t>
            </a:r>
            <a:r>
              <a:rPr lang="en-US" b="0" i="0" dirty="0">
                <a:solidFill>
                  <a:srgbClr val="EEF0FF"/>
                </a:solidFill>
                <a:effectLst/>
                <a:latin typeface="Google Sans"/>
              </a:rPr>
              <a:t>, primarily by providing a more robust and flexible framework for building complex, stateful agent workflows using graphs. While </a:t>
            </a:r>
            <a:r>
              <a:rPr lang="en-US" b="0" i="0" dirty="0" err="1">
                <a:solidFill>
                  <a:srgbClr val="EEF0FF"/>
                </a:solidFill>
                <a:effectLst/>
                <a:latin typeface="Google Sans"/>
              </a:rPr>
              <a:t>LangChain</a:t>
            </a:r>
            <a:r>
              <a:rPr lang="en-US" b="0" i="0" dirty="0">
                <a:solidFill>
                  <a:srgbClr val="EEF0FF"/>
                </a:solidFill>
                <a:effectLst/>
                <a:latin typeface="Google Sans"/>
              </a:rPr>
              <a:t> excels in building simple chains and integrating with various tools, </a:t>
            </a:r>
            <a:r>
              <a:rPr lang="en-US" b="0" i="0" dirty="0" err="1">
                <a:solidFill>
                  <a:srgbClr val="EEF0FF"/>
                </a:solidFill>
                <a:effectLst/>
                <a:latin typeface="Google Sans"/>
              </a:rPr>
              <a:t>LangGraph</a:t>
            </a:r>
            <a:r>
              <a:rPr lang="en-US" b="0" i="0" dirty="0">
                <a:solidFill>
                  <a:srgbClr val="EEF0FF"/>
                </a:solidFill>
                <a:effectLst/>
                <a:latin typeface="Google Sans"/>
              </a:rPr>
              <a:t> specializes in orchestrating multiple agents and managing state transitions in a more sophisticated manner, addressing some of </a:t>
            </a:r>
            <a:r>
              <a:rPr lang="en-US" b="0" i="0" dirty="0" err="1">
                <a:solidFill>
                  <a:srgbClr val="EEF0FF"/>
                </a:solidFill>
                <a:effectLst/>
                <a:latin typeface="Google Sans"/>
              </a:rPr>
              <a:t>LangChain's</a:t>
            </a:r>
            <a:r>
              <a:rPr lang="en-US" b="0" i="0" dirty="0">
                <a:solidFill>
                  <a:srgbClr val="EEF0FF"/>
                </a:solidFill>
                <a:effectLst/>
                <a:latin typeface="Google Sans"/>
              </a:rPr>
              <a:t> shortcomings in these areas. </a:t>
            </a:r>
            <a:endParaRPr lang="en-US" dirty="0"/>
          </a:p>
        </p:txBody>
      </p:sp>
    </p:spTree>
    <p:extLst>
      <p:ext uri="{BB962C8B-B14F-4D97-AF65-F5344CB8AC3E}">
        <p14:creationId xmlns:p14="http://schemas.microsoft.com/office/powerpoint/2010/main" val="1754757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82DA5-5E32-02BA-7155-05F5DEB309FA}"/>
              </a:ext>
            </a:extLst>
          </p:cNvPr>
          <p:cNvSpPr>
            <a:spLocks noGrp="1"/>
          </p:cNvSpPr>
          <p:nvPr>
            <p:ph type="title"/>
          </p:nvPr>
        </p:nvSpPr>
        <p:spPr/>
        <p:txBody>
          <a:bodyPr/>
          <a:lstStyle/>
          <a:p>
            <a:r>
              <a:rPr lang="en-US" dirty="0"/>
              <a:t>Agents -</a:t>
            </a:r>
          </a:p>
        </p:txBody>
      </p:sp>
      <p:sp>
        <p:nvSpPr>
          <p:cNvPr id="3" name="Content Placeholder 2">
            <a:extLst>
              <a:ext uri="{FF2B5EF4-FFF2-40B4-BE49-F238E27FC236}">
                <a16:creationId xmlns:a16="http://schemas.microsoft.com/office/drawing/2014/main" id="{B1B829AA-28D4-6C76-559D-019FBC758BA6}"/>
              </a:ext>
            </a:extLst>
          </p:cNvPr>
          <p:cNvSpPr>
            <a:spLocks noGrp="1"/>
          </p:cNvSpPr>
          <p:nvPr>
            <p:ph idx="1"/>
          </p:nvPr>
        </p:nvSpPr>
        <p:spPr/>
        <p:txBody>
          <a:bodyPr/>
          <a:lstStyle/>
          <a:p>
            <a:r>
              <a:rPr lang="en-US" b="0" i="0" dirty="0">
                <a:solidFill>
                  <a:srgbClr val="EEF0FF"/>
                </a:solidFill>
                <a:effectLst/>
                <a:latin typeface="Google Sans"/>
              </a:rPr>
              <a:t>In </a:t>
            </a:r>
            <a:r>
              <a:rPr lang="en-US" b="0" i="0" dirty="0" err="1">
                <a:solidFill>
                  <a:srgbClr val="EEF0FF"/>
                </a:solidFill>
                <a:effectLst/>
                <a:latin typeface="Google Sans"/>
              </a:rPr>
              <a:t>LangChain</a:t>
            </a:r>
            <a:r>
              <a:rPr lang="en-US" b="0" i="0" dirty="0">
                <a:solidFill>
                  <a:srgbClr val="EEF0FF"/>
                </a:solidFill>
                <a:effectLst/>
                <a:latin typeface="Google Sans"/>
              </a:rPr>
              <a:t>, agents are systems that utilize a language model to determine a sequence of actions to take in order to achieve a specific goal. They differ from chains, where the sequence of actions is predetermined, by employing a language model as a reasoning engine to dynamically choose and order actions. This allows agents to interact with external tools, making them suitable for tasks requiring complex decision-making and adaptability. </a:t>
            </a:r>
          </a:p>
          <a:p>
            <a:r>
              <a:rPr lang="en-US" dirty="0"/>
              <a:t>How agents work –</a:t>
            </a:r>
          </a:p>
          <a:p>
            <a:pPr lvl="1"/>
            <a:r>
              <a:rPr lang="en-US" b="1" dirty="0"/>
              <a:t>User Input</a:t>
            </a:r>
            <a:r>
              <a:rPr lang="en-US" dirty="0"/>
              <a:t> - </a:t>
            </a:r>
            <a:r>
              <a:rPr lang="en-US" b="0" i="0" dirty="0">
                <a:solidFill>
                  <a:srgbClr val="EEF0FF"/>
                </a:solidFill>
                <a:effectLst/>
                <a:latin typeface="Google Sans"/>
              </a:rPr>
              <a:t>The agent receives an initial input or query from the user. </a:t>
            </a:r>
          </a:p>
          <a:p>
            <a:pPr lvl="1"/>
            <a:r>
              <a:rPr lang="en-US" b="1" dirty="0"/>
              <a:t>Reasoning and Action Planning: </a:t>
            </a:r>
            <a:r>
              <a:rPr lang="en-US" b="0" i="0" dirty="0">
                <a:solidFill>
                  <a:srgbClr val="EEF0FF"/>
                </a:solidFill>
                <a:effectLst/>
                <a:latin typeface="Google Sans"/>
              </a:rPr>
              <a:t>The language model analyzes the input and decides on a sequence of actions to take. </a:t>
            </a:r>
            <a:endParaRPr lang="en-US" dirty="0">
              <a:solidFill>
                <a:srgbClr val="EEF0FF"/>
              </a:solidFill>
              <a:latin typeface="Google Sans"/>
            </a:endParaRPr>
          </a:p>
          <a:p>
            <a:pPr lvl="1"/>
            <a:endParaRPr lang="en-US" dirty="0"/>
          </a:p>
        </p:txBody>
      </p:sp>
    </p:spTree>
    <p:extLst>
      <p:ext uri="{BB962C8B-B14F-4D97-AF65-F5344CB8AC3E}">
        <p14:creationId xmlns:p14="http://schemas.microsoft.com/office/powerpoint/2010/main" val="2462106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DEFDB-D523-878C-9F1A-60A292B1BA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6ED8BB-BE91-A42B-8D0A-A57621907C59}"/>
              </a:ext>
            </a:extLst>
          </p:cNvPr>
          <p:cNvSpPr>
            <a:spLocks noGrp="1"/>
          </p:cNvSpPr>
          <p:nvPr>
            <p:ph idx="1"/>
          </p:nvPr>
        </p:nvSpPr>
        <p:spPr/>
        <p:txBody>
          <a:bodyPr/>
          <a:lstStyle/>
          <a:p>
            <a:pPr lvl="1"/>
            <a:r>
              <a:rPr lang="en-US" b="1" dirty="0"/>
              <a:t>Tool Invocation</a:t>
            </a:r>
            <a:r>
              <a:rPr lang="en-US" dirty="0"/>
              <a:t> - </a:t>
            </a:r>
            <a:r>
              <a:rPr lang="en-US" b="0" i="0" dirty="0">
                <a:solidFill>
                  <a:srgbClr val="EEF0FF"/>
                </a:solidFill>
                <a:effectLst/>
                <a:latin typeface="Google Sans"/>
              </a:rPr>
              <a:t>The agent may invoke specific tools or toolkits based on the planned actions. </a:t>
            </a:r>
          </a:p>
          <a:p>
            <a:pPr lvl="1"/>
            <a:r>
              <a:rPr lang="en-US" b="1" dirty="0"/>
              <a:t>Observation</a:t>
            </a:r>
            <a:r>
              <a:rPr lang="en-US" dirty="0">
                <a:solidFill>
                  <a:srgbClr val="EEF0FF"/>
                </a:solidFill>
                <a:latin typeface="Google Sans"/>
              </a:rPr>
              <a:t> - </a:t>
            </a:r>
            <a:r>
              <a:rPr lang="en-US" b="0" i="0" dirty="0">
                <a:solidFill>
                  <a:srgbClr val="EEF0FF"/>
                </a:solidFill>
                <a:effectLst/>
                <a:latin typeface="Google Sans"/>
              </a:rPr>
              <a:t>The agent receives feedback from the tool execution. </a:t>
            </a:r>
          </a:p>
          <a:p>
            <a:pPr lvl="1"/>
            <a:r>
              <a:rPr lang="en-US" b="1" dirty="0"/>
              <a:t>Iteration</a:t>
            </a:r>
            <a:r>
              <a:rPr lang="en-US" dirty="0"/>
              <a:t> - </a:t>
            </a:r>
            <a:r>
              <a:rPr lang="en-US" b="0" i="0" dirty="0">
                <a:solidFill>
                  <a:srgbClr val="EEF0FF"/>
                </a:solidFill>
                <a:effectLst/>
                <a:latin typeface="Google Sans"/>
              </a:rPr>
              <a:t>The agent may iterate through steps 2-4 until the task is complete or the language model determines that no further actions are necessary.</a:t>
            </a:r>
          </a:p>
          <a:p>
            <a:pPr lvl="1"/>
            <a:endParaRPr lang="en-US" dirty="0">
              <a:solidFill>
                <a:srgbClr val="EEF0FF"/>
              </a:solidFill>
              <a:latin typeface="Google Sans"/>
            </a:endParaRPr>
          </a:p>
          <a:p>
            <a:pPr marL="457200" lvl="1" indent="0">
              <a:buNone/>
            </a:pPr>
            <a:r>
              <a:rPr lang="en-US" b="0" i="0" dirty="0">
                <a:solidFill>
                  <a:srgbClr val="EEF0FF"/>
                </a:solidFill>
                <a:effectLst/>
                <a:latin typeface="Google Sans"/>
              </a:rPr>
              <a:t>In essence, agents in </a:t>
            </a:r>
            <a:r>
              <a:rPr lang="en-US" b="0" i="0" dirty="0" err="1">
                <a:solidFill>
                  <a:srgbClr val="EEF0FF"/>
                </a:solidFill>
                <a:effectLst/>
                <a:latin typeface="Google Sans"/>
              </a:rPr>
              <a:t>LangChain</a:t>
            </a:r>
            <a:r>
              <a:rPr lang="en-US" b="0" i="0" dirty="0">
                <a:solidFill>
                  <a:srgbClr val="EEF0FF"/>
                </a:solidFill>
                <a:effectLst/>
                <a:latin typeface="Google Sans"/>
              </a:rPr>
              <a:t> empower developers to build more intelligent and adaptable applications by leveraging the reasoning capabilities of language models and the power of external tools. </a:t>
            </a:r>
            <a:endParaRPr lang="en-US" dirty="0"/>
          </a:p>
        </p:txBody>
      </p:sp>
    </p:spTree>
    <p:extLst>
      <p:ext uri="{BB962C8B-B14F-4D97-AF65-F5344CB8AC3E}">
        <p14:creationId xmlns:p14="http://schemas.microsoft.com/office/powerpoint/2010/main" val="4100792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EE74F-9932-89AA-0300-4212AE0E5078}"/>
              </a:ext>
            </a:extLst>
          </p:cNvPr>
          <p:cNvSpPr>
            <a:spLocks noGrp="1"/>
          </p:cNvSpPr>
          <p:nvPr>
            <p:ph type="title"/>
          </p:nvPr>
        </p:nvSpPr>
        <p:spPr/>
        <p:txBody>
          <a:bodyPr/>
          <a:lstStyle/>
          <a:p>
            <a:r>
              <a:rPr lang="en-US" dirty="0"/>
              <a:t>Tools -</a:t>
            </a:r>
          </a:p>
        </p:txBody>
      </p:sp>
      <p:sp>
        <p:nvSpPr>
          <p:cNvPr id="3" name="Content Placeholder 2">
            <a:extLst>
              <a:ext uri="{FF2B5EF4-FFF2-40B4-BE49-F238E27FC236}">
                <a16:creationId xmlns:a16="http://schemas.microsoft.com/office/drawing/2014/main" id="{7B07EBAD-D17A-0908-883C-AC1EE33A6992}"/>
              </a:ext>
            </a:extLst>
          </p:cNvPr>
          <p:cNvSpPr>
            <a:spLocks noGrp="1"/>
          </p:cNvSpPr>
          <p:nvPr>
            <p:ph idx="1"/>
          </p:nvPr>
        </p:nvSpPr>
        <p:spPr/>
        <p:txBody>
          <a:bodyPr/>
          <a:lstStyle/>
          <a:p>
            <a:r>
              <a:rPr lang="en-US" b="0" i="0" dirty="0" err="1">
                <a:solidFill>
                  <a:srgbClr val="EEF0FF"/>
                </a:solidFill>
                <a:effectLst/>
                <a:latin typeface="Google Sans"/>
              </a:rPr>
              <a:t>LangChain</a:t>
            </a:r>
            <a:r>
              <a:rPr lang="en-US" b="0" i="0" dirty="0">
                <a:solidFill>
                  <a:srgbClr val="EEF0FF"/>
                </a:solidFill>
                <a:effectLst/>
                <a:latin typeface="Google Sans"/>
              </a:rPr>
              <a:t> tools are Python functions that </a:t>
            </a:r>
            <a:r>
              <a:rPr lang="en-US" b="0" i="0" dirty="0" err="1">
                <a:solidFill>
                  <a:srgbClr val="EEF0FF"/>
                </a:solidFill>
                <a:effectLst/>
                <a:latin typeface="Google Sans"/>
              </a:rPr>
              <a:t>LangChain</a:t>
            </a:r>
            <a:r>
              <a:rPr lang="en-US" b="0" i="0" dirty="0">
                <a:solidFill>
                  <a:srgbClr val="EEF0FF"/>
                </a:solidFill>
                <a:effectLst/>
                <a:latin typeface="Google Sans"/>
              </a:rPr>
              <a:t> agents can use to interact with the external world. They encapsulate specific actions and their associated input requirements, allowing agents to perform tasks beyond simple text generation. These tools can range from simple calculations to complex API interactions.</a:t>
            </a:r>
          </a:p>
          <a:p>
            <a:r>
              <a:rPr lang="en-US" dirty="0">
                <a:solidFill>
                  <a:srgbClr val="EEF0FF"/>
                </a:solidFill>
                <a:latin typeface="Google Sans"/>
              </a:rPr>
              <a:t>How to use </a:t>
            </a:r>
            <a:r>
              <a:rPr lang="en-US" dirty="0" err="1">
                <a:solidFill>
                  <a:srgbClr val="EEF0FF"/>
                </a:solidFill>
                <a:latin typeface="Google Sans"/>
              </a:rPr>
              <a:t>LangChain</a:t>
            </a:r>
            <a:r>
              <a:rPr lang="en-US" dirty="0">
                <a:solidFill>
                  <a:srgbClr val="EEF0FF"/>
                </a:solidFill>
                <a:latin typeface="Google Sans"/>
              </a:rPr>
              <a:t> tools –</a:t>
            </a:r>
          </a:p>
          <a:p>
            <a:pPr lvl="1"/>
            <a:r>
              <a:rPr lang="en-US" b="0" i="0" dirty="0">
                <a:solidFill>
                  <a:srgbClr val="EEF0FF"/>
                </a:solidFill>
                <a:effectLst/>
                <a:latin typeface="Google Sans"/>
              </a:rPr>
              <a:t>Define a tool - </a:t>
            </a:r>
            <a:r>
              <a:rPr lang="en-US" b="0" i="0" dirty="0">
                <a:solidFill>
                  <a:srgbClr val="C3C6D6"/>
                </a:solidFill>
                <a:effectLst/>
                <a:latin typeface="Google Sans"/>
              </a:rPr>
              <a:t>Create a tool by defining its name, description, and the underlying Python function. </a:t>
            </a:r>
            <a:endParaRPr lang="en-US" b="0" i="0" dirty="0">
              <a:solidFill>
                <a:srgbClr val="EEF0FF"/>
              </a:solidFill>
              <a:effectLst/>
              <a:latin typeface="Google Sans"/>
            </a:endParaRPr>
          </a:p>
          <a:p>
            <a:pPr lvl="1"/>
            <a:r>
              <a:rPr lang="en-US" dirty="0">
                <a:solidFill>
                  <a:srgbClr val="EEF0FF"/>
                </a:solidFill>
                <a:latin typeface="Google Sans"/>
              </a:rPr>
              <a:t>Create an agent - </a:t>
            </a:r>
            <a:r>
              <a:rPr lang="en-US" b="0" i="0" dirty="0">
                <a:solidFill>
                  <a:srgbClr val="C3C6D6"/>
                </a:solidFill>
                <a:effectLst/>
                <a:latin typeface="Google Sans"/>
              </a:rPr>
              <a:t>Use the defined tools when creating an agent. The agent will then decide which tool to use based on the task. </a:t>
            </a:r>
            <a:endParaRPr lang="en-US" dirty="0">
              <a:solidFill>
                <a:srgbClr val="EEF0FF"/>
              </a:solidFill>
              <a:latin typeface="Google Sans"/>
            </a:endParaRPr>
          </a:p>
          <a:p>
            <a:pPr lvl="1"/>
            <a:r>
              <a:rPr lang="en-US" b="0" i="0" dirty="0">
                <a:solidFill>
                  <a:srgbClr val="EEF0FF"/>
                </a:solidFill>
                <a:effectLst/>
                <a:latin typeface="Google Sans"/>
              </a:rPr>
              <a:t>Invoke the tool - </a:t>
            </a:r>
            <a:r>
              <a:rPr lang="en-US" b="0" i="0" dirty="0">
                <a:solidFill>
                  <a:srgbClr val="C3C6D6"/>
                </a:solidFill>
                <a:effectLst/>
                <a:latin typeface="Google Sans"/>
              </a:rPr>
              <a:t>The agent will invoke the selected tool with the appropriate inputs, and the tool will execute its defined action. </a:t>
            </a:r>
            <a:endParaRPr lang="en-US" b="0" i="0" dirty="0">
              <a:solidFill>
                <a:srgbClr val="EEF0FF"/>
              </a:solidFill>
              <a:effectLst/>
              <a:latin typeface="Google Sans"/>
            </a:endParaRPr>
          </a:p>
        </p:txBody>
      </p:sp>
    </p:spTree>
    <p:extLst>
      <p:ext uri="{BB962C8B-B14F-4D97-AF65-F5344CB8AC3E}">
        <p14:creationId xmlns:p14="http://schemas.microsoft.com/office/powerpoint/2010/main" val="3757740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761F-7E16-C9D1-183F-0F6D29756D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B3F382-8685-94DC-EA2D-E541AF10622E}"/>
              </a:ext>
            </a:extLst>
          </p:cNvPr>
          <p:cNvSpPr>
            <a:spLocks noGrp="1"/>
          </p:cNvSpPr>
          <p:nvPr>
            <p:ph idx="1"/>
          </p:nvPr>
        </p:nvSpPr>
        <p:spPr/>
        <p:txBody>
          <a:bodyPr/>
          <a:lstStyle/>
          <a:p>
            <a:pPr lvl="1"/>
            <a:r>
              <a:rPr lang="en-US" dirty="0"/>
              <a:t>Use the results - </a:t>
            </a:r>
            <a:r>
              <a:rPr lang="en-US" b="0" i="0" dirty="0">
                <a:solidFill>
                  <a:srgbClr val="C3C6D6"/>
                </a:solidFill>
                <a:effectLst/>
                <a:latin typeface="Google Sans"/>
              </a:rPr>
              <a:t>The output from the tool can be used by the agent to continue the conversation or complete the task. </a:t>
            </a:r>
          </a:p>
          <a:p>
            <a:pPr lvl="1"/>
            <a:r>
              <a:rPr lang="en-US" b="0" i="0" dirty="0">
                <a:solidFill>
                  <a:srgbClr val="EEF0FF"/>
                </a:solidFill>
                <a:effectLst/>
                <a:latin typeface="Google Sans"/>
              </a:rPr>
              <a:t>Key concepts related to </a:t>
            </a:r>
            <a:r>
              <a:rPr lang="en-US" b="0" i="0" dirty="0" err="1">
                <a:solidFill>
                  <a:srgbClr val="EEF0FF"/>
                </a:solidFill>
                <a:effectLst/>
                <a:latin typeface="Google Sans"/>
              </a:rPr>
              <a:t>LangChain</a:t>
            </a:r>
            <a:r>
              <a:rPr lang="en-US" b="0" i="0" dirty="0">
                <a:solidFill>
                  <a:srgbClr val="EEF0FF"/>
                </a:solidFill>
                <a:effectLst/>
                <a:latin typeface="Google Sans"/>
              </a:rPr>
              <a:t> tools:</a:t>
            </a:r>
          </a:p>
          <a:p>
            <a:pPr lvl="2"/>
            <a:r>
              <a:rPr lang="en-US" dirty="0" err="1">
                <a:solidFill>
                  <a:srgbClr val="EEF0FF"/>
                </a:solidFill>
                <a:latin typeface="Google Sans"/>
              </a:rPr>
              <a:t>BaseTool</a:t>
            </a:r>
            <a:r>
              <a:rPr lang="en-US" dirty="0">
                <a:solidFill>
                  <a:srgbClr val="EEF0FF"/>
                </a:solidFill>
                <a:latin typeface="Google Sans"/>
              </a:rPr>
              <a:t> - </a:t>
            </a:r>
            <a:r>
              <a:rPr lang="en-US" b="0" i="0" dirty="0">
                <a:solidFill>
                  <a:srgbClr val="EEF0FF"/>
                </a:solidFill>
                <a:effectLst/>
                <a:latin typeface="Google Sans"/>
              </a:rPr>
              <a:t>The base class for all </a:t>
            </a:r>
            <a:r>
              <a:rPr lang="en-US" b="0" i="0" dirty="0" err="1">
                <a:solidFill>
                  <a:srgbClr val="EEF0FF"/>
                </a:solidFill>
                <a:effectLst/>
                <a:latin typeface="Google Sans"/>
              </a:rPr>
              <a:t>LangChain</a:t>
            </a:r>
            <a:r>
              <a:rPr lang="en-US" b="0" i="0" dirty="0">
                <a:solidFill>
                  <a:srgbClr val="EEF0FF"/>
                </a:solidFill>
                <a:effectLst/>
                <a:latin typeface="Google Sans"/>
              </a:rPr>
              <a:t> tools. </a:t>
            </a:r>
            <a:endParaRPr lang="en-US" dirty="0">
              <a:solidFill>
                <a:srgbClr val="EEF0FF"/>
              </a:solidFill>
              <a:latin typeface="Google Sans"/>
            </a:endParaRPr>
          </a:p>
          <a:p>
            <a:pPr lvl="2"/>
            <a:r>
              <a:rPr lang="en-US" dirty="0">
                <a:solidFill>
                  <a:srgbClr val="EEF0FF"/>
                </a:solidFill>
                <a:latin typeface="Google Sans"/>
              </a:rPr>
              <a:t>Tool - </a:t>
            </a:r>
            <a:r>
              <a:rPr lang="en-US" b="0" i="0" dirty="0">
                <a:solidFill>
                  <a:srgbClr val="EEF0FF"/>
                </a:solidFill>
                <a:effectLst/>
                <a:latin typeface="Google Sans"/>
              </a:rPr>
              <a:t>A class for creating simple tools that wrap a function. </a:t>
            </a:r>
          </a:p>
          <a:p>
            <a:pPr lvl="2"/>
            <a:r>
              <a:rPr lang="en-US" dirty="0" err="1">
                <a:solidFill>
                  <a:srgbClr val="EEF0FF"/>
                </a:solidFill>
                <a:latin typeface="Google Sans"/>
              </a:rPr>
              <a:t>StructuredTool</a:t>
            </a:r>
            <a:r>
              <a:rPr lang="en-US" dirty="0">
                <a:solidFill>
                  <a:srgbClr val="EEF0FF"/>
                </a:solidFill>
                <a:latin typeface="Google Sans"/>
              </a:rPr>
              <a:t> - </a:t>
            </a:r>
            <a:r>
              <a:rPr lang="en-US" b="0" i="0" dirty="0">
                <a:solidFill>
                  <a:srgbClr val="EEF0FF"/>
                </a:solidFill>
                <a:effectLst/>
                <a:latin typeface="Google Sans"/>
              </a:rPr>
              <a:t>A class for creating tools that can handle multiple inputs.</a:t>
            </a:r>
            <a:endParaRPr lang="en-US" dirty="0">
              <a:solidFill>
                <a:srgbClr val="EEF0FF"/>
              </a:solidFill>
              <a:latin typeface="Google Sans"/>
            </a:endParaRPr>
          </a:p>
          <a:p>
            <a:pPr lvl="2"/>
            <a:r>
              <a:rPr lang="en-US" dirty="0">
                <a:solidFill>
                  <a:srgbClr val="EEF0FF"/>
                </a:solidFill>
                <a:latin typeface="Google Sans"/>
              </a:rPr>
              <a:t>Runnable Interface – </a:t>
            </a:r>
            <a:r>
              <a:rPr lang="en-US" dirty="0" err="1">
                <a:solidFill>
                  <a:srgbClr val="EEF0FF"/>
                </a:solidFill>
                <a:latin typeface="Google Sans"/>
              </a:rPr>
              <a:t>LangChain</a:t>
            </a:r>
            <a:r>
              <a:rPr lang="en-US" dirty="0">
                <a:solidFill>
                  <a:srgbClr val="EEF0FF"/>
                </a:solidFill>
                <a:latin typeface="Google Sans"/>
              </a:rPr>
              <a:t> tools implement the Runnable interface, which allows for various methods like invoke, etc.</a:t>
            </a:r>
          </a:p>
          <a:p>
            <a:pPr lvl="2"/>
            <a:endParaRPr lang="en-US" dirty="0">
              <a:solidFill>
                <a:srgbClr val="EEF0FF"/>
              </a:solidFill>
              <a:latin typeface="Google Sans"/>
            </a:endParaRPr>
          </a:p>
          <a:p>
            <a:pPr marL="914400" lvl="2" indent="0">
              <a:buNone/>
            </a:pPr>
            <a:r>
              <a:rPr lang="en-US" b="0" i="0" dirty="0">
                <a:solidFill>
                  <a:srgbClr val="EEF0FF"/>
                </a:solidFill>
                <a:effectLst/>
                <a:latin typeface="Google Sans"/>
              </a:rPr>
              <a:t>By utilizing </a:t>
            </a:r>
            <a:r>
              <a:rPr lang="en-US" b="0" i="0" dirty="0" err="1">
                <a:solidFill>
                  <a:srgbClr val="EEF0FF"/>
                </a:solidFill>
                <a:effectLst/>
                <a:latin typeface="Google Sans"/>
              </a:rPr>
              <a:t>LangChain</a:t>
            </a:r>
            <a:r>
              <a:rPr lang="en-US" b="0" i="0" dirty="0">
                <a:solidFill>
                  <a:srgbClr val="EEF0FF"/>
                </a:solidFill>
                <a:effectLst/>
                <a:latin typeface="Google Sans"/>
              </a:rPr>
              <a:t> tools, you can significantly expand the capabilities of your LLM-powered applications and create more powerful and versatile solutions.</a:t>
            </a:r>
            <a:endParaRPr lang="en-US" dirty="0">
              <a:solidFill>
                <a:srgbClr val="EEF0FF"/>
              </a:solidFill>
              <a:latin typeface="Google Sans"/>
            </a:endParaRPr>
          </a:p>
        </p:txBody>
      </p:sp>
    </p:spTree>
    <p:extLst>
      <p:ext uri="{BB962C8B-B14F-4D97-AF65-F5344CB8AC3E}">
        <p14:creationId xmlns:p14="http://schemas.microsoft.com/office/powerpoint/2010/main" val="1295422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4C18D-DE8E-309E-C166-06B4C2653B86}"/>
              </a:ext>
            </a:extLst>
          </p:cNvPr>
          <p:cNvSpPr>
            <a:spLocks noGrp="1"/>
          </p:cNvSpPr>
          <p:nvPr>
            <p:ph type="title"/>
          </p:nvPr>
        </p:nvSpPr>
        <p:spPr/>
        <p:txBody>
          <a:bodyPr/>
          <a:lstStyle/>
          <a:p>
            <a:r>
              <a:rPr lang="en-US" dirty="0"/>
              <a:t>Tool Calling in </a:t>
            </a:r>
            <a:r>
              <a:rPr lang="en-US" dirty="0" err="1"/>
              <a:t>LangChain</a:t>
            </a:r>
            <a:r>
              <a:rPr lang="en-US" dirty="0"/>
              <a:t> -</a:t>
            </a:r>
          </a:p>
        </p:txBody>
      </p:sp>
      <p:sp>
        <p:nvSpPr>
          <p:cNvPr id="3" name="Content Placeholder 2">
            <a:extLst>
              <a:ext uri="{FF2B5EF4-FFF2-40B4-BE49-F238E27FC236}">
                <a16:creationId xmlns:a16="http://schemas.microsoft.com/office/drawing/2014/main" id="{67E09FE4-8179-0E10-C592-5DE6606F0A5B}"/>
              </a:ext>
            </a:extLst>
          </p:cNvPr>
          <p:cNvSpPr>
            <a:spLocks noGrp="1"/>
          </p:cNvSpPr>
          <p:nvPr>
            <p:ph idx="1"/>
          </p:nvPr>
        </p:nvSpPr>
        <p:spPr/>
        <p:txBody>
          <a:bodyPr/>
          <a:lstStyle/>
          <a:p>
            <a:r>
              <a:rPr lang="en-US" b="0" i="0" dirty="0">
                <a:solidFill>
                  <a:srgbClr val="EEF0FF"/>
                </a:solidFill>
                <a:effectLst/>
                <a:latin typeface="Google Sans"/>
              </a:rPr>
              <a:t>Tool calling in </a:t>
            </a:r>
            <a:r>
              <a:rPr lang="en-US" b="0" i="0" dirty="0" err="1">
                <a:solidFill>
                  <a:srgbClr val="EEF0FF"/>
                </a:solidFill>
                <a:effectLst/>
                <a:latin typeface="Google Sans"/>
              </a:rPr>
              <a:t>LangChain</a:t>
            </a:r>
            <a:r>
              <a:rPr lang="en-US" b="0" i="0" dirty="0">
                <a:solidFill>
                  <a:srgbClr val="EEF0FF"/>
                </a:solidFill>
                <a:effectLst/>
                <a:latin typeface="Google Sans"/>
              </a:rPr>
              <a:t>, when used with Google's Gemini models, allows the model to generate structured data representing a request to invoke a specific tool, rather than directly performing the action itself. This means the model decides when a tool is relevant and provides the necessary arguments, but the actual execution of the tool is handled by the user or application. </a:t>
            </a:r>
            <a:r>
              <a:rPr lang="en-US" b="0" i="0" dirty="0" err="1">
                <a:solidFill>
                  <a:srgbClr val="EEF0FF"/>
                </a:solidFill>
                <a:effectLst/>
                <a:latin typeface="Google Sans"/>
              </a:rPr>
              <a:t>LangChain</a:t>
            </a:r>
            <a:r>
              <a:rPr lang="en-US" b="0" i="0" dirty="0">
                <a:solidFill>
                  <a:srgbClr val="EEF0FF"/>
                </a:solidFill>
                <a:effectLst/>
                <a:latin typeface="Google Sans"/>
              </a:rPr>
              <a:t> provides interfaces for defining tools, passing them to the model, and representing tool calls.</a:t>
            </a:r>
          </a:p>
          <a:p>
            <a:r>
              <a:rPr lang="en-US" b="0" i="0" dirty="0">
                <a:solidFill>
                  <a:srgbClr val="EEF0FF"/>
                </a:solidFill>
                <a:effectLst/>
                <a:latin typeface="Google Sans"/>
              </a:rPr>
              <a:t>In essence, tool calling in </a:t>
            </a:r>
            <a:r>
              <a:rPr lang="en-US" b="0" i="0" dirty="0" err="1">
                <a:solidFill>
                  <a:srgbClr val="EEF0FF"/>
                </a:solidFill>
                <a:effectLst/>
                <a:latin typeface="Google Sans"/>
              </a:rPr>
              <a:t>LangChain</a:t>
            </a:r>
            <a:r>
              <a:rPr lang="en-US" b="0" i="0" dirty="0">
                <a:solidFill>
                  <a:srgbClr val="EEF0FF"/>
                </a:solidFill>
                <a:effectLst/>
                <a:latin typeface="Google Sans"/>
              </a:rPr>
              <a:t> </a:t>
            </a:r>
            <a:r>
              <a:rPr lang="en-US" dirty="0">
                <a:solidFill>
                  <a:srgbClr val="EEF0FF"/>
                </a:solidFill>
                <a:latin typeface="Google Sans"/>
              </a:rPr>
              <a:t>allows </a:t>
            </a:r>
            <a:r>
              <a:rPr lang="en-US" b="0" i="0" dirty="0">
                <a:solidFill>
                  <a:srgbClr val="EEF0FF"/>
                </a:solidFill>
                <a:effectLst/>
                <a:latin typeface="Google Sans"/>
              </a:rPr>
              <a:t>for a separation of concerns: the model handles the reasoning and decision-making about which tools to use, while the actual execution of those tools is managed by the user or application. This enables powerful, dynamic, and adaptable AI applications</a:t>
            </a:r>
            <a:r>
              <a:rPr lang="en-US" dirty="0">
                <a:solidFill>
                  <a:srgbClr val="EEF0FF"/>
                </a:solidFill>
                <a:latin typeface="Google Sans"/>
              </a:rPr>
              <a:t>.</a:t>
            </a:r>
            <a:endParaRPr lang="en-US" dirty="0"/>
          </a:p>
        </p:txBody>
      </p:sp>
    </p:spTree>
    <p:extLst>
      <p:ext uri="{BB962C8B-B14F-4D97-AF65-F5344CB8AC3E}">
        <p14:creationId xmlns:p14="http://schemas.microsoft.com/office/powerpoint/2010/main" val="420492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417BD-B98D-8E0C-F171-AE35354B5333}"/>
              </a:ext>
            </a:extLst>
          </p:cNvPr>
          <p:cNvSpPr>
            <a:spLocks noGrp="1"/>
          </p:cNvSpPr>
          <p:nvPr>
            <p:ph type="ctrTitle"/>
          </p:nvPr>
        </p:nvSpPr>
        <p:spPr/>
        <p:txBody>
          <a:bodyPr/>
          <a:lstStyle/>
          <a:p>
            <a:r>
              <a:rPr lang="en-US" b="1" u="sng" dirty="0" err="1"/>
              <a:t>LangGraph</a:t>
            </a:r>
            <a:r>
              <a:rPr lang="en-US" b="1" u="sng" dirty="0"/>
              <a:t> Session</a:t>
            </a:r>
          </a:p>
        </p:txBody>
      </p:sp>
      <p:sp>
        <p:nvSpPr>
          <p:cNvPr id="3" name="Subtitle 2">
            <a:extLst>
              <a:ext uri="{FF2B5EF4-FFF2-40B4-BE49-F238E27FC236}">
                <a16:creationId xmlns:a16="http://schemas.microsoft.com/office/drawing/2014/main" id="{5EB796E7-2B2A-8120-6DCA-402819B95CFA}"/>
              </a:ext>
            </a:extLst>
          </p:cNvPr>
          <p:cNvSpPr>
            <a:spLocks noGrp="1"/>
          </p:cNvSpPr>
          <p:nvPr>
            <p:ph type="subTitle" idx="1"/>
          </p:nvPr>
        </p:nvSpPr>
        <p:spPr/>
        <p:txBody>
          <a:bodyPr/>
          <a:lstStyle/>
          <a:p>
            <a:r>
              <a:rPr lang="en-US" b="1" dirty="0"/>
              <a:t>PART 2</a:t>
            </a:r>
          </a:p>
        </p:txBody>
      </p:sp>
    </p:spTree>
    <p:extLst>
      <p:ext uri="{BB962C8B-B14F-4D97-AF65-F5344CB8AC3E}">
        <p14:creationId xmlns:p14="http://schemas.microsoft.com/office/powerpoint/2010/main" val="2165871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71015-09E2-24A0-921D-A5BB20526820}"/>
              </a:ext>
            </a:extLst>
          </p:cNvPr>
          <p:cNvSpPr>
            <a:spLocks noGrp="1"/>
          </p:cNvSpPr>
          <p:nvPr>
            <p:ph type="title"/>
          </p:nvPr>
        </p:nvSpPr>
        <p:spPr/>
        <p:txBody>
          <a:bodyPr/>
          <a:lstStyle/>
          <a:p>
            <a:r>
              <a:rPr lang="en-US" dirty="0"/>
              <a:t>How </a:t>
            </a:r>
            <a:r>
              <a:rPr lang="en-US" dirty="0" err="1"/>
              <a:t>LangGraph</a:t>
            </a:r>
            <a:r>
              <a:rPr lang="en-US" dirty="0"/>
              <a:t> works -	</a:t>
            </a:r>
          </a:p>
        </p:txBody>
      </p:sp>
      <p:sp>
        <p:nvSpPr>
          <p:cNvPr id="3" name="Content Placeholder 2">
            <a:extLst>
              <a:ext uri="{FF2B5EF4-FFF2-40B4-BE49-F238E27FC236}">
                <a16:creationId xmlns:a16="http://schemas.microsoft.com/office/drawing/2014/main" id="{07175853-D5AD-9DFB-095E-4080713592B1}"/>
              </a:ext>
            </a:extLst>
          </p:cNvPr>
          <p:cNvSpPr>
            <a:spLocks noGrp="1"/>
          </p:cNvSpPr>
          <p:nvPr>
            <p:ph idx="1"/>
          </p:nvPr>
        </p:nvSpPr>
        <p:spPr/>
        <p:txBody>
          <a:bodyPr/>
          <a:lstStyle/>
          <a:p>
            <a:r>
              <a:rPr lang="en-US" dirty="0"/>
              <a:t>The functionality of </a:t>
            </a:r>
            <a:r>
              <a:rPr lang="en-US" dirty="0" err="1"/>
              <a:t>LangGraph</a:t>
            </a:r>
            <a:r>
              <a:rPr lang="en-US" dirty="0"/>
              <a:t> is based on several essential elements:</a:t>
            </a:r>
          </a:p>
          <a:p>
            <a:r>
              <a:rPr lang="en-US" b="1" dirty="0"/>
              <a:t>Nodes:</a:t>
            </a:r>
            <a:r>
              <a:rPr lang="en-US" dirty="0"/>
              <a:t> These are functions or </a:t>
            </a:r>
            <a:r>
              <a:rPr lang="en-US" u="sng" dirty="0" err="1">
                <a:hlinkClick r:id="rId2"/>
              </a:rPr>
              <a:t>Langchain</a:t>
            </a:r>
            <a:r>
              <a:rPr lang="en-US" dirty="0"/>
              <a:t> runnable items, like the agent’s tools.</a:t>
            </a:r>
          </a:p>
          <a:p>
            <a:r>
              <a:rPr lang="en-US" b="1" dirty="0"/>
              <a:t>Edges:</a:t>
            </a:r>
            <a:r>
              <a:rPr lang="en-US" dirty="0"/>
              <a:t> Paths that define the direction of execution and data flow within the agent system, connecting nodes.</a:t>
            </a:r>
          </a:p>
          <a:p>
            <a:r>
              <a:rPr lang="en-US" b="1" dirty="0"/>
              <a:t>Stateful Graphs:</a:t>
            </a:r>
            <a:r>
              <a:rPr lang="en-US" dirty="0"/>
              <a:t> </a:t>
            </a:r>
            <a:r>
              <a:rPr lang="en-US" dirty="0" err="1"/>
              <a:t>LangGraph</a:t>
            </a:r>
            <a:r>
              <a:rPr lang="en-US" dirty="0"/>
              <a:t> allows for persistent data across execution cycles by managing and updating state objects as data flows through the nodes.</a:t>
            </a:r>
          </a:p>
          <a:p>
            <a:endParaRPr lang="en-US" dirty="0"/>
          </a:p>
        </p:txBody>
      </p:sp>
    </p:spTree>
    <p:extLst>
      <p:ext uri="{BB962C8B-B14F-4D97-AF65-F5344CB8AC3E}">
        <p14:creationId xmlns:p14="http://schemas.microsoft.com/office/powerpoint/2010/main" val="3547048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C0328-8F4A-E364-B226-10E0F5C05F2D}"/>
              </a:ext>
            </a:extLst>
          </p:cNvPr>
          <p:cNvSpPr>
            <a:spLocks noGrp="1"/>
          </p:cNvSpPr>
          <p:nvPr>
            <p:ph type="title"/>
          </p:nvPr>
        </p:nvSpPr>
        <p:spPr/>
        <p:txBody>
          <a:bodyPr/>
          <a:lstStyle/>
          <a:p>
            <a:r>
              <a:rPr lang="en-US" dirty="0" err="1"/>
              <a:t>LangGraph</a:t>
            </a:r>
            <a:r>
              <a:rPr lang="en-US" dirty="0"/>
              <a:t> Components -</a:t>
            </a:r>
          </a:p>
        </p:txBody>
      </p:sp>
      <p:pic>
        <p:nvPicPr>
          <p:cNvPr id="5122" name="Picture 2" descr="LangGraph Tutorial to Build a Basic and Smart Chatbot">
            <a:extLst>
              <a:ext uri="{FF2B5EF4-FFF2-40B4-BE49-F238E27FC236}">
                <a16:creationId xmlns:a16="http://schemas.microsoft.com/office/drawing/2014/main" id="{C958AA0B-7F9B-6509-DA9D-7F07197E84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1255" y="2052638"/>
            <a:ext cx="9503594" cy="4352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360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454C2-CFB8-249A-41CF-C04CB4A73847}"/>
              </a:ext>
            </a:extLst>
          </p:cNvPr>
          <p:cNvSpPr>
            <a:spLocks noGrp="1"/>
          </p:cNvSpPr>
          <p:nvPr>
            <p:ph type="title"/>
          </p:nvPr>
        </p:nvSpPr>
        <p:spPr/>
        <p:txBody>
          <a:bodyPr/>
          <a:lstStyle/>
          <a:p>
            <a:r>
              <a:rPr lang="en-US" dirty="0" err="1"/>
              <a:t>LangChain</a:t>
            </a:r>
            <a:r>
              <a:rPr lang="en-US" dirty="0"/>
              <a:t> vs </a:t>
            </a:r>
            <a:r>
              <a:rPr lang="en-US" dirty="0" err="1"/>
              <a:t>LangGraph</a:t>
            </a:r>
            <a:r>
              <a:rPr lang="en-US" dirty="0"/>
              <a:t> -</a:t>
            </a:r>
          </a:p>
        </p:txBody>
      </p:sp>
      <p:pic>
        <p:nvPicPr>
          <p:cNvPr id="1026" name="Picture 2" descr="LangChain vs LangGraph: picking the right tool for the right job">
            <a:extLst>
              <a:ext uri="{FF2B5EF4-FFF2-40B4-BE49-F238E27FC236}">
                <a16:creationId xmlns:a16="http://schemas.microsoft.com/office/drawing/2014/main" id="{5365329E-AFBD-3D14-3302-9DAB0A9DDC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6593" y="2075379"/>
            <a:ext cx="8973122" cy="4238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459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942A9-F345-A0B8-4848-F696E2DAA7C8}"/>
              </a:ext>
            </a:extLst>
          </p:cNvPr>
          <p:cNvSpPr>
            <a:spLocks noGrp="1"/>
          </p:cNvSpPr>
          <p:nvPr>
            <p:ph type="title"/>
          </p:nvPr>
        </p:nvSpPr>
        <p:spPr/>
        <p:txBody>
          <a:bodyPr/>
          <a:lstStyle/>
          <a:p>
            <a:r>
              <a:rPr lang="en-US" dirty="0" err="1"/>
              <a:t>LangGraph</a:t>
            </a:r>
            <a:r>
              <a:rPr lang="en-US" dirty="0"/>
              <a:t> example -</a:t>
            </a:r>
          </a:p>
        </p:txBody>
      </p:sp>
      <p:pic>
        <p:nvPicPr>
          <p:cNvPr id="2050" name="Picture 2" descr="Complete Guide to Building LangChain Agents with the LangGraph Framework |  Zep">
            <a:extLst>
              <a:ext uri="{FF2B5EF4-FFF2-40B4-BE49-F238E27FC236}">
                <a16:creationId xmlns:a16="http://schemas.microsoft.com/office/drawing/2014/main" id="{5209E38F-92CF-6DA2-B7F7-ECADAFBDA2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6045" y="2075841"/>
            <a:ext cx="9267290" cy="4178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95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4B24-BF4B-4E96-9850-EEB23370EBC2}"/>
              </a:ext>
            </a:extLst>
          </p:cNvPr>
          <p:cNvSpPr>
            <a:spLocks noGrp="1"/>
          </p:cNvSpPr>
          <p:nvPr>
            <p:ph type="title"/>
          </p:nvPr>
        </p:nvSpPr>
        <p:spPr/>
        <p:txBody>
          <a:bodyPr/>
          <a:lstStyle/>
          <a:p>
            <a:r>
              <a:rPr lang="en-US" dirty="0" err="1"/>
              <a:t>LangGraph</a:t>
            </a:r>
            <a:r>
              <a:rPr lang="en-US" dirty="0"/>
              <a:t> Workflow -</a:t>
            </a:r>
          </a:p>
        </p:txBody>
      </p:sp>
      <p:pic>
        <p:nvPicPr>
          <p:cNvPr id="3074" name="Picture 2" descr="Use the Graph API">
            <a:extLst>
              <a:ext uri="{FF2B5EF4-FFF2-40B4-BE49-F238E27FC236}">
                <a16:creationId xmlns:a16="http://schemas.microsoft.com/office/drawing/2014/main" id="{3C6333A4-8AF8-ECAE-2665-A01A0DE8857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47326" y="2034283"/>
            <a:ext cx="4828854" cy="4370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2274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3AA47-97DB-381A-4520-6AE75049561F}"/>
              </a:ext>
            </a:extLst>
          </p:cNvPr>
          <p:cNvSpPr>
            <a:spLocks noGrp="1"/>
          </p:cNvSpPr>
          <p:nvPr>
            <p:ph type="title"/>
          </p:nvPr>
        </p:nvSpPr>
        <p:spPr/>
        <p:txBody>
          <a:bodyPr/>
          <a:lstStyle/>
          <a:p>
            <a:endParaRPr lang="en-US" dirty="0"/>
          </a:p>
        </p:txBody>
      </p:sp>
      <p:pic>
        <p:nvPicPr>
          <p:cNvPr id="4098" name="Picture 2" descr="LangChainのLangGraphを試す">
            <a:extLst>
              <a:ext uri="{FF2B5EF4-FFF2-40B4-BE49-F238E27FC236}">
                <a16:creationId xmlns:a16="http://schemas.microsoft.com/office/drawing/2014/main" id="{59A78558-1597-DBE7-391A-BA494DDA640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21294" y="2116476"/>
            <a:ext cx="4387066" cy="4288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20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D67F-715A-DB9D-B4DC-BCDDF68F119C}"/>
              </a:ext>
            </a:extLst>
          </p:cNvPr>
          <p:cNvSpPr>
            <a:spLocks noGrp="1"/>
          </p:cNvSpPr>
          <p:nvPr>
            <p:ph type="title"/>
          </p:nvPr>
        </p:nvSpPr>
        <p:spPr/>
        <p:txBody>
          <a:bodyPr/>
          <a:lstStyle/>
          <a:p>
            <a:r>
              <a:rPr lang="en-US" dirty="0" err="1"/>
              <a:t>LangGraph</a:t>
            </a:r>
            <a:r>
              <a:rPr lang="en-US" dirty="0"/>
              <a:t> simple graph -</a:t>
            </a:r>
          </a:p>
        </p:txBody>
      </p:sp>
      <p:pic>
        <p:nvPicPr>
          <p:cNvPr id="6146" name="Picture 2" descr="LangGraph Essentials: Create Your First Graph with Ease!">
            <a:extLst>
              <a:ext uri="{FF2B5EF4-FFF2-40B4-BE49-F238E27FC236}">
                <a16:creationId xmlns:a16="http://schemas.microsoft.com/office/drawing/2014/main" id="{159A9E24-E933-7EFA-6A2A-B05FD23CC2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2207" y="1756881"/>
            <a:ext cx="9565239" cy="4491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7389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F20BD-568F-B7F0-66C7-DF631CF24BAA}"/>
              </a:ext>
            </a:extLst>
          </p:cNvPr>
          <p:cNvSpPr>
            <a:spLocks noGrp="1"/>
          </p:cNvSpPr>
          <p:nvPr>
            <p:ph type="title"/>
          </p:nvPr>
        </p:nvSpPr>
        <p:spPr/>
        <p:txBody>
          <a:bodyPr/>
          <a:lstStyle/>
          <a:p>
            <a:r>
              <a:rPr lang="en-US" dirty="0"/>
              <a:t>Comparing </a:t>
            </a:r>
            <a:r>
              <a:rPr lang="en-US" dirty="0" err="1"/>
              <a:t>LangChain</a:t>
            </a:r>
            <a:r>
              <a:rPr lang="en-US" dirty="0"/>
              <a:t> and </a:t>
            </a:r>
            <a:r>
              <a:rPr lang="en-US" dirty="0" err="1"/>
              <a:t>LangGraph</a:t>
            </a:r>
            <a:r>
              <a:rPr lang="en-US" dirty="0"/>
              <a:t> -</a:t>
            </a:r>
          </a:p>
        </p:txBody>
      </p:sp>
      <p:pic>
        <p:nvPicPr>
          <p:cNvPr id="7170" name="Picture 2" descr="Vizuara AI Agents Bootcamp Day 8 - by Vizuara AI">
            <a:extLst>
              <a:ext uri="{FF2B5EF4-FFF2-40B4-BE49-F238E27FC236}">
                <a16:creationId xmlns:a16="http://schemas.microsoft.com/office/drawing/2014/main" id="{22BF0339-9D70-8405-34AF-3731BE8116C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0707" y="2052638"/>
            <a:ext cx="9174822" cy="4195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639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B1CE2-B81D-25CB-9A58-ECAA9BD03E53}"/>
              </a:ext>
            </a:extLst>
          </p:cNvPr>
          <p:cNvSpPr>
            <a:spLocks noGrp="1"/>
          </p:cNvSpPr>
          <p:nvPr>
            <p:ph type="title"/>
          </p:nvPr>
        </p:nvSpPr>
        <p:spPr/>
        <p:txBody>
          <a:bodyPr/>
          <a:lstStyle/>
          <a:p>
            <a:endParaRPr lang="en-US"/>
          </a:p>
        </p:txBody>
      </p:sp>
      <p:pic>
        <p:nvPicPr>
          <p:cNvPr id="8194" name="Picture 2" descr="Building AI Workflows with LangGraph: Practical Use Cases and Examples |  Scalable Path">
            <a:extLst>
              <a:ext uri="{FF2B5EF4-FFF2-40B4-BE49-F238E27FC236}">
                <a16:creationId xmlns:a16="http://schemas.microsoft.com/office/drawing/2014/main" id="{51ABA7A9-6929-070E-8D77-62E9098789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9190" y="2052638"/>
            <a:ext cx="9606337" cy="4195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043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FABAC-D25E-6D74-AABC-A709F7DDF72E}"/>
              </a:ext>
            </a:extLst>
          </p:cNvPr>
          <p:cNvSpPr>
            <a:spLocks noGrp="1"/>
          </p:cNvSpPr>
          <p:nvPr>
            <p:ph type="title"/>
          </p:nvPr>
        </p:nvSpPr>
        <p:spPr/>
        <p:txBody>
          <a:bodyPr/>
          <a:lstStyle/>
          <a:p>
            <a:pPr algn="ctr"/>
            <a:r>
              <a:rPr lang="en-US" dirty="0"/>
              <a:t>Thank you</a:t>
            </a:r>
          </a:p>
        </p:txBody>
      </p:sp>
      <p:sp>
        <p:nvSpPr>
          <p:cNvPr id="3" name="Content Placeholder 2">
            <a:extLst>
              <a:ext uri="{FF2B5EF4-FFF2-40B4-BE49-F238E27FC236}">
                <a16:creationId xmlns:a16="http://schemas.microsoft.com/office/drawing/2014/main" id="{488680AA-6FDC-49B3-4007-7D50F4CF77A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1276828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40</TotalTime>
  <Words>914</Words>
  <Application>Microsoft Office PowerPoint</Application>
  <PresentationFormat>Widescreen</PresentationFormat>
  <Paragraphs>49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Century Gothic</vt:lpstr>
      <vt:lpstr>Google Sans</vt:lpstr>
      <vt:lpstr>Wingdings 3</vt:lpstr>
      <vt:lpstr>Ion</vt:lpstr>
      <vt:lpstr>LangGraph Session </vt:lpstr>
      <vt:lpstr>LangChain -</vt:lpstr>
      <vt:lpstr>Key Features of LangChain -</vt:lpstr>
      <vt:lpstr>LangGraph -</vt:lpstr>
      <vt:lpstr>Agents -</vt:lpstr>
      <vt:lpstr>PowerPoint Presentation</vt:lpstr>
      <vt:lpstr>Tools -</vt:lpstr>
      <vt:lpstr>PowerPoint Presentation</vt:lpstr>
      <vt:lpstr>Tool Calling in LangChain -</vt:lpstr>
      <vt:lpstr>LangGraph Session</vt:lpstr>
      <vt:lpstr>How LangGraph works - </vt:lpstr>
      <vt:lpstr>LangGraph Components -</vt:lpstr>
      <vt:lpstr>LangChain vs LangGraph -</vt:lpstr>
      <vt:lpstr>LangGraph example -</vt:lpstr>
      <vt:lpstr>LangGraph Workflow -</vt:lpstr>
      <vt:lpstr>PowerPoint Presentation</vt:lpstr>
      <vt:lpstr>LangGraph simple graph -</vt:lpstr>
      <vt:lpstr>Comparing LangChain and LangGraph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Tripathi, Shivangi</dc:creator>
  <cp:lastModifiedBy>Tripathi, Shivangi</cp:lastModifiedBy>
  <cp:revision>19</cp:revision>
  <dcterms:created xsi:type="dcterms:W3CDTF">2025-07-04T04:17:37Z</dcterms:created>
  <dcterms:modified xsi:type="dcterms:W3CDTF">2025-07-28T08:29:35Z</dcterms:modified>
</cp:coreProperties>
</file>